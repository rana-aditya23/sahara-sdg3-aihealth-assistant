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029200" cy="502920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291840" cy="3291840"/>
          </a:xfrm>
          <a:prstGeom prst="ellipse">
            <a:avLst/>
          </a:prstGeom>
          <a:solidFill>
            <a:srgbClr val="0E8C8C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40080"/>
            <a:ext cx="777240" cy="777240"/>
          </a:xfrm>
          <a:prstGeom prst="ellipse">
            <a:avLst/>
          </a:prstGeom>
          <a:solidFill>
            <a:srgbClr val="0E8C8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84216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6916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1M1B AI for Sustainability Virtual Internship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057400"/>
            <a:ext cx="8961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SAHARA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822960" y="320040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7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AI Health Awareness &amp; Response Assistant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22960" y="388620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DC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conversational assistant for early health guidance and </a:t>
            </a:r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DC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literacy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DC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underserved communities.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822960" y="4709160"/>
            <a:ext cx="3291840" cy="502920"/>
          </a:xfrm>
          <a:prstGeom prst="roundRect">
            <a:avLst>
              <a:gd name="adj" fmla="val 49091"/>
            </a:avLst>
          </a:prstGeom>
          <a:solidFill>
            <a:srgbClr val="0E8C8C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47091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3 • Good Health &amp; Well-being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Rana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2960" y="63276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collaboration with IBM SkillsBuild &amp; AICTE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millions delay or skip basic health care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86400" cy="4617720"/>
          </a:xfrm>
          <a:prstGeom prst="roundRect">
            <a:avLst>
              <a:gd name="adj" fmla="val 1584"/>
            </a:avLst>
          </a:prstGeom>
          <a:solidFill>
            <a:srgbClr val="F6FB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83080"/>
            <a:ext cx="566928" cy="566928"/>
          </a:xfrm>
          <a:prstGeom prst="ellipse">
            <a:avLst/>
          </a:prstGeom>
          <a:solidFill>
            <a:srgbClr val="DFF3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81" y="193048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288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access to timely guidance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423160"/>
            <a:ext cx="48920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rural areas, small towns, and dense urban slums, doctors and clinics are often far away, expensive, or overbooked.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rely on guesswork, neighbours, or unverified social media advice for symptoms, hygiene, and nutrition questions.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Minor, treatable issues are often ignored until they become emergencies — or harmless symptoms cause panic and wasted hospital visits.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literacy materials (when they exist) are rarely in the person's own language or reading level.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5087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E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92240" y="167335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4.5B+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8321040" y="1636776"/>
            <a:ext cx="31089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worldwide lacked full coverage of essential health services (WHO/World Bank tracking)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63640" y="3136392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E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92240" y="3300984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60-70%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8321040" y="3264408"/>
            <a:ext cx="31089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rural Indian households' first health query today starts with an internet search, not a clinician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63640" y="4764024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E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492240" y="4928616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1:1,511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8321040" y="4892040"/>
            <a:ext cx="31089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doctor-to-population ratio gap in many low-resource regions vs. WHO-recommended 1:1,000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1M1B AI for Sustainability Internship — SDG 3 Project — Aditya Rana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Description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SAHARA — Sustainable AI Health Awareness &amp; Response Assistant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Rana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ALIGNMENT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3: Good Health and Well-being (secondary: SDG 10 – Reduced Inequalities)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416052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07343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D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61772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might we use AI to deliver trustworthy, simple health guidance so that underserved communities can manage early symptoms and prevention more confidently and safely?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89320" y="1371600"/>
            <a:ext cx="5669280" cy="2331720"/>
          </a:xfrm>
          <a:prstGeom prst="roundRect">
            <a:avLst>
              <a:gd name="adj" fmla="val 3137"/>
            </a:avLst>
          </a:prstGeom>
          <a:solidFill>
            <a:srgbClr val="F6FBFA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1600200"/>
            <a:ext cx="502920" cy="502920"/>
          </a:xfrm>
          <a:prstGeom prst="ellipse">
            <a:avLst/>
          </a:prstGeom>
          <a:solidFill>
            <a:srgbClr val="DFF3EE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4399" y="1730959"/>
            <a:ext cx="241402" cy="24140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903720" y="16276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309360" y="224028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of rural and semi-urban areas with limited clinic access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College/school students and first-time independent adults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health workers (ASHA/ANM) needing a quick reference aid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989320" y="3886200"/>
            <a:ext cx="5669280" cy="2194560"/>
          </a:xfrm>
          <a:prstGeom prst="roundRect">
            <a:avLst>
              <a:gd name="adj" fmla="val 3333"/>
            </a:avLst>
          </a:prstGeom>
          <a:solidFill>
            <a:srgbClr val="F6FBFA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63640" y="4114800"/>
            <a:ext cx="502920" cy="502920"/>
          </a:xfrm>
          <a:prstGeom prst="ellipse">
            <a:avLst/>
          </a:prstGeom>
          <a:solidFill>
            <a:srgbClr val="DFF3EE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4399" y="4245559"/>
            <a:ext cx="241402" cy="24140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903720" y="41422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Solution Overview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309360" y="4754880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conversational AI assistant that understands plain-language symptom descriptions, retrieves verified public-health guidance, and responds with general self-care information, red-flag warnings, and a clear referral when professional care is needed — never a diagnosis.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1M1B AI for Sustainability Internship — SDG 3 Project — Aditya Rana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Thinking Journey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idea was shaped, stage by stage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21408" cy="4160520"/>
          </a:xfrm>
          <a:prstGeom prst="roundRect">
            <a:avLst>
              <a:gd name="adj" fmla="val 3879"/>
            </a:avLst>
          </a:prstGeom>
          <a:solidFill>
            <a:srgbClr val="F6FBFA"/>
          </a:solidFill>
          <a:ln w="12700">
            <a:solidFill>
              <a:srgbClr val="E3EE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53312" y="1920240"/>
            <a:ext cx="512064" cy="512064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6" name="Text 4"/>
          <p:cNvSpPr/>
          <p:nvPr/>
        </p:nvSpPr>
        <p:spPr>
          <a:xfrm>
            <a:off x="1353312" y="19202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6736" y="2606040"/>
            <a:ext cx="585216" cy="5852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331927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Empathize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13232" y="3721608"/>
            <a:ext cx="179222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Listened to how people without easy clinic access currently handle symptoms — mostly search engines, neighbours, or waiting it out.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3671316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834640" y="1691640"/>
            <a:ext cx="2121408" cy="416052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E3EE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639312" y="1920240"/>
            <a:ext cx="512064" cy="512064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13" name="Text 9"/>
          <p:cNvSpPr/>
          <p:nvPr/>
        </p:nvSpPr>
        <p:spPr>
          <a:xfrm>
            <a:off x="3639312" y="19202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2736" y="2606040"/>
            <a:ext cx="585216" cy="58521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944368" y="331927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2999232" y="3721608"/>
            <a:ext cx="179222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the problem: a trust + access gap in first-line health information, not a shortage of hospitals alone.</a:t>
            </a:r>
            <a:endParaRPr lang="en-US" sz="11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671316"/>
            <a:ext cx="201168" cy="20116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120640" y="1691640"/>
            <a:ext cx="2121408" cy="4160520"/>
          </a:xfrm>
          <a:prstGeom prst="roundRect">
            <a:avLst>
              <a:gd name="adj" fmla="val 3879"/>
            </a:avLst>
          </a:prstGeom>
          <a:solidFill>
            <a:srgbClr val="F6FBFA"/>
          </a:solidFill>
          <a:ln w="12700">
            <a:solidFill>
              <a:srgbClr val="E3EE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5925312" y="1920240"/>
            <a:ext cx="512064" cy="512064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20" name="Text 14"/>
          <p:cNvSpPr/>
          <p:nvPr/>
        </p:nvSpPr>
        <p:spPr>
          <a:xfrm>
            <a:off x="5925312" y="19202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8736" y="2606040"/>
            <a:ext cx="585216" cy="58521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230368" y="331927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Ideate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5285232" y="3721608"/>
            <a:ext cx="179222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chatbots, prediction models, and RAG search. Chose a conversational assistant grounded in retrieval for safety and clarity.</a:t>
            </a:r>
            <a:endParaRPr lang="en-US" sz="11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0" y="3671316"/>
            <a:ext cx="201168" cy="201168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406640" y="1691640"/>
            <a:ext cx="2121408" cy="416052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E3EE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8211312" y="1920240"/>
            <a:ext cx="512064" cy="512064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27" name="Text 19"/>
          <p:cNvSpPr/>
          <p:nvPr/>
        </p:nvSpPr>
        <p:spPr>
          <a:xfrm>
            <a:off x="8211312" y="19202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4736" y="2606040"/>
            <a:ext cx="585216" cy="58521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516368" y="331927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450" dirty="0"/>
          </a:p>
        </p:txBody>
      </p:sp>
      <p:sp>
        <p:nvSpPr>
          <p:cNvPr id="30" name="Text 21"/>
          <p:cNvSpPr/>
          <p:nvPr/>
        </p:nvSpPr>
        <p:spPr>
          <a:xfrm>
            <a:off x="7571232" y="3721608"/>
            <a:ext cx="179222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working chat interface with intent detection, a curated health knowledge base, and an urgent-care safety net.</a:t>
            </a:r>
            <a:endParaRPr lang="en-US" sz="11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9760" y="3671316"/>
            <a:ext cx="201168" cy="201168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9692640" y="1691640"/>
            <a:ext cx="2121408" cy="4160520"/>
          </a:xfrm>
          <a:prstGeom prst="roundRect">
            <a:avLst>
              <a:gd name="adj" fmla="val 3879"/>
            </a:avLst>
          </a:prstGeom>
          <a:solidFill>
            <a:srgbClr val="F6FBFA"/>
          </a:solidFill>
          <a:ln w="12700">
            <a:solidFill>
              <a:srgbClr val="E3EE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Shape 23"/>
          <p:cNvSpPr/>
          <p:nvPr/>
        </p:nvSpPr>
        <p:spPr>
          <a:xfrm>
            <a:off x="10497312" y="1920240"/>
            <a:ext cx="512064" cy="512064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4" name="Text 24"/>
          <p:cNvSpPr/>
          <p:nvPr/>
        </p:nvSpPr>
        <p:spPr>
          <a:xfrm>
            <a:off x="10497312" y="19202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60736" y="2606040"/>
            <a:ext cx="585216" cy="585216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802368" y="331927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Refine</a:t>
            </a:r>
            <a:endParaRPr lang="en-US" sz="1450" dirty="0"/>
          </a:p>
        </p:txBody>
      </p:sp>
      <p:sp>
        <p:nvSpPr>
          <p:cNvPr id="37" name="Text 26"/>
          <p:cNvSpPr/>
          <p:nvPr/>
        </p:nvSpPr>
        <p:spPr>
          <a:xfrm>
            <a:off x="9857232" y="3721608"/>
            <a:ext cx="179222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sample conversations for tone, accuracy, and over-confidence; added stronger red-flag escalation language.</a:t>
            </a:r>
            <a:endParaRPr lang="en-US" sz="1100" dirty="0"/>
          </a:p>
        </p:txBody>
      </p:sp>
      <p:sp>
        <p:nvSpPr>
          <p:cNvPr id="38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1M1B AI for Sustainability Internship — SDG 3 Project — Aditya Rana</a:t>
            </a:r>
            <a:endParaRPr lang="en-US" sz="1000" dirty="0"/>
          </a:p>
        </p:txBody>
      </p:sp>
      <p:sp>
        <p:nvSpPr>
          <p:cNvPr id="39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AI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retrieval-grounded conversational pipeline — not a free-form diagnosis engine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965960" cy="2103120"/>
          </a:xfrm>
          <a:prstGeom prst="roundRect">
            <a:avLst>
              <a:gd name="adj" fmla="val 4186"/>
            </a:avLst>
          </a:prstGeom>
          <a:solidFill>
            <a:srgbClr val="F6FBFA"/>
          </a:solidFill>
          <a:ln w="12700">
            <a:solidFill>
              <a:srgbClr val="E3EE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9012" y="1892808"/>
            <a:ext cx="585216" cy="585216"/>
          </a:xfrm>
          <a:prstGeom prst="ellipse">
            <a:avLst/>
          </a:prstGeom>
          <a:solidFill>
            <a:srgbClr val="DFF3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1168" y="2044964"/>
            <a:ext cx="280904" cy="280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8775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67512" y="2990088"/>
            <a:ext cx="1728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5C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types symptoms or a health question in plain language (text, any literacy level)</a:t>
            </a:r>
            <a:endParaRPr lang="en-US" sz="102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604" y="2651760"/>
            <a:ext cx="182880" cy="1828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761488" y="1691640"/>
            <a:ext cx="1965960" cy="2103120"/>
          </a:xfrm>
          <a:prstGeom prst="roundRect">
            <a:avLst>
              <a:gd name="adj" fmla="val 4186"/>
            </a:avLst>
          </a:prstGeom>
          <a:solidFill>
            <a:srgbClr val="F6FBFA"/>
          </a:solidFill>
          <a:ln w="12700">
            <a:solidFill>
              <a:srgbClr val="E3EE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451860" y="1892808"/>
            <a:ext cx="585216" cy="585216"/>
          </a:xfrm>
          <a:prstGeom prst="ellipse">
            <a:avLst/>
          </a:prstGeom>
          <a:solidFill>
            <a:srgbClr val="DFF3E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4016" y="2044964"/>
            <a:ext cx="280904" cy="2809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852928" y="258775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&amp; Entity Extraction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2880360" y="2990088"/>
            <a:ext cx="1728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5C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identifies symptom type, duration, severity cues, and risk keywords</a:t>
            </a:r>
            <a:endParaRPr lang="en-US" sz="102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9452" y="2651760"/>
            <a:ext cx="182880" cy="18288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974336" y="1691640"/>
            <a:ext cx="1965960" cy="2103120"/>
          </a:xfrm>
          <a:prstGeom prst="roundRect">
            <a:avLst>
              <a:gd name="adj" fmla="val 4186"/>
            </a:avLst>
          </a:prstGeom>
          <a:solidFill>
            <a:srgbClr val="F6FBFA"/>
          </a:solidFill>
          <a:ln w="12700">
            <a:solidFill>
              <a:srgbClr val="E3EE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5664708" y="1892808"/>
            <a:ext cx="585216" cy="585216"/>
          </a:xfrm>
          <a:prstGeom prst="ellipse">
            <a:avLst/>
          </a:prstGeom>
          <a:solidFill>
            <a:srgbClr val="DFF3EE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6864" y="2044964"/>
            <a:ext cx="280904" cy="28090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065776" y="258775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(RAG)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5093208" y="2990088"/>
            <a:ext cx="1728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5C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query against a curated knowledge base of WHO/MoHFW-style guidance — not open internet</a:t>
            </a:r>
            <a:endParaRPr lang="en-US" sz="102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2300" y="2651760"/>
            <a:ext cx="182880" cy="18288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187184" y="1691640"/>
            <a:ext cx="1965960" cy="2103120"/>
          </a:xfrm>
          <a:prstGeom prst="roundRect">
            <a:avLst>
              <a:gd name="adj" fmla="val 4186"/>
            </a:avLst>
          </a:prstGeom>
          <a:solidFill>
            <a:srgbClr val="F6FBFA"/>
          </a:solidFill>
          <a:ln w="12700">
            <a:solidFill>
              <a:srgbClr val="E3EE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7877556" y="1892808"/>
            <a:ext cx="585216" cy="585216"/>
          </a:xfrm>
          <a:prstGeom prst="ellipse">
            <a:avLst/>
          </a:prstGeom>
          <a:solidFill>
            <a:srgbClr val="DFF3EE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9712" y="2044964"/>
            <a:ext cx="280904" cy="280904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278624" y="258775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Check</a:t>
            </a:r>
            <a:endParaRPr lang="en-US" sz="1300" dirty="0"/>
          </a:p>
        </p:txBody>
      </p:sp>
      <p:sp>
        <p:nvSpPr>
          <p:cNvPr id="26" name="Text 17"/>
          <p:cNvSpPr/>
          <p:nvPr/>
        </p:nvSpPr>
        <p:spPr>
          <a:xfrm>
            <a:off x="7306056" y="2990088"/>
            <a:ext cx="1728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5C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Red-flag rules scan for emergency symptoms (chest pain, breathing difficulty, etc.)</a:t>
            </a:r>
            <a:endParaRPr lang="en-US" sz="102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5148" y="2651760"/>
            <a:ext cx="182880" cy="182880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9400032" y="1691640"/>
            <a:ext cx="1965960" cy="2103120"/>
          </a:xfrm>
          <a:prstGeom prst="roundRect">
            <a:avLst>
              <a:gd name="adj" fmla="val 4186"/>
            </a:avLst>
          </a:prstGeom>
          <a:solidFill>
            <a:srgbClr val="0B5563"/>
          </a:solidFill>
          <a:ln w="12700">
            <a:solidFill>
              <a:srgbClr val="0B556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19"/>
          <p:cNvSpPr/>
          <p:nvPr/>
        </p:nvSpPr>
        <p:spPr>
          <a:xfrm>
            <a:off x="10090404" y="1892808"/>
            <a:ext cx="585216" cy="585216"/>
          </a:xfrm>
          <a:prstGeom prst="ellipse">
            <a:avLst/>
          </a:prstGeom>
          <a:solidFill>
            <a:srgbClr val="0E8C8C"/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2560" y="2044964"/>
            <a:ext cx="280904" cy="280904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9491472" y="258775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Response</a:t>
            </a:r>
            <a:endParaRPr lang="en-US" sz="1300" dirty="0"/>
          </a:p>
        </p:txBody>
      </p:sp>
      <p:sp>
        <p:nvSpPr>
          <p:cNvPr id="32" name="Text 21"/>
          <p:cNvSpPr/>
          <p:nvPr/>
        </p:nvSpPr>
        <p:spPr>
          <a:xfrm>
            <a:off x="9518904" y="2990088"/>
            <a:ext cx="1728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5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self-care guidance, source-backed info, or an urgent-referral message</a:t>
            </a:r>
            <a:endParaRPr lang="en-US" sz="1020" dirty="0"/>
          </a:p>
        </p:txBody>
      </p:sp>
      <p:sp>
        <p:nvSpPr>
          <p:cNvPr id="33" name="Shape 22"/>
          <p:cNvSpPr/>
          <p:nvPr/>
        </p:nvSpPr>
        <p:spPr>
          <a:xfrm>
            <a:off x="548640" y="4069080"/>
            <a:ext cx="11091672" cy="1783080"/>
          </a:xfrm>
          <a:prstGeom prst="roundRect">
            <a:avLst>
              <a:gd name="adj" fmla="val 4103"/>
            </a:avLst>
          </a:prstGeom>
          <a:solidFill>
            <a:srgbClr val="DFF3EE"/>
          </a:solidFill>
          <a:ln/>
        </p:spPr>
      </p:sp>
      <p:sp>
        <p:nvSpPr>
          <p:cNvPr id="34" name="Shape 23"/>
          <p:cNvSpPr/>
          <p:nvPr/>
        </p:nvSpPr>
        <p:spPr>
          <a:xfrm>
            <a:off x="777240" y="427939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7999" y="4410151"/>
            <a:ext cx="241402" cy="241402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1463040" y="422452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RAG (Retrieval-Augmented Generation) instead of a free-form chatbot?</a:t>
            </a:r>
            <a:endParaRPr lang="en-US" sz="1500" dirty="0"/>
          </a:p>
        </p:txBody>
      </p:sp>
      <p:sp>
        <p:nvSpPr>
          <p:cNvPr id="37" name="Text 25"/>
          <p:cNvSpPr/>
          <p:nvPr/>
        </p:nvSpPr>
        <p:spPr>
          <a:xfrm>
            <a:off x="1463040" y="4681728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grounding every answer in a fixed, vetted knowledge base (public health guidelines, hygiene and nutrition references) rather than open generation, the assistant reduces hallucination risk and keeps responses traceable to a real source — critical for any health-related AI tool.</a:t>
            </a:r>
            <a:endParaRPr lang="en-US" sz="1250" dirty="0"/>
          </a:p>
        </p:txBody>
      </p:sp>
      <p:sp>
        <p:nvSpPr>
          <p:cNvPr id="3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1M1B AI for Sustainability Internship — SDG 3 Project — Aditya Rana</a:t>
            </a:r>
            <a:endParaRPr lang="en-US" sz="1000" dirty="0"/>
          </a:p>
        </p:txBody>
      </p:sp>
      <p:sp>
        <p:nvSpPr>
          <p:cNvPr id="3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Demo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conversation — live interactive version shown separately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4206240" cy="4663440"/>
          </a:xfrm>
          <a:prstGeom prst="roundRect">
            <a:avLst>
              <a:gd name="adj" fmla="val 3913"/>
            </a:avLst>
          </a:prstGeom>
          <a:solidFill>
            <a:srgbClr val="07343D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20240"/>
            <a:ext cx="4023360" cy="4023360"/>
          </a:xfrm>
          <a:prstGeom prst="roundRect">
            <a:avLst>
              <a:gd name="adj" fmla="val 1364"/>
            </a:avLst>
          </a:prstGeom>
          <a:solidFill>
            <a:srgbClr val="F4FAF9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62763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961" y="1708465"/>
            <a:ext cx="149230" cy="1492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SAHARA Assistant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536192" y="2057400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0E8C8C"/>
          </a:solidFill>
          <a:ln/>
        </p:spPr>
      </p:sp>
      <p:sp>
        <p:nvSpPr>
          <p:cNvPr id="10" name="Text 7"/>
          <p:cNvSpPr/>
          <p:nvPr/>
        </p:nvSpPr>
        <p:spPr>
          <a:xfrm>
            <a:off x="1655064" y="2112264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I've had a mild fever and body ache since this morning. What should I do?</a:t>
            </a:r>
            <a:endParaRPr lang="en-US" sz="1030" dirty="0"/>
          </a:p>
        </p:txBody>
      </p:sp>
      <p:sp>
        <p:nvSpPr>
          <p:cNvPr id="11" name="Shape 8"/>
          <p:cNvSpPr/>
          <p:nvPr/>
        </p:nvSpPr>
        <p:spPr>
          <a:xfrm>
            <a:off x="1051560" y="2770632"/>
            <a:ext cx="32461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825496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not a doctor, but here's general guidance: rest, fluids, and paracetamol per label dosage are commonly recommended for mild fever. Monitor your temperature every few hours.</a:t>
            </a:r>
            <a:endParaRPr lang="en-US" sz="1030" dirty="0"/>
          </a:p>
        </p:txBody>
      </p:sp>
      <p:sp>
        <p:nvSpPr>
          <p:cNvPr id="13" name="Shape 10"/>
          <p:cNvSpPr/>
          <p:nvPr/>
        </p:nvSpPr>
        <p:spPr>
          <a:xfrm>
            <a:off x="1536192" y="3758184"/>
            <a:ext cx="3246120" cy="502920"/>
          </a:xfrm>
          <a:prstGeom prst="roundRect">
            <a:avLst>
              <a:gd name="adj" fmla="val 14545"/>
            </a:avLst>
          </a:prstGeom>
          <a:solidFill>
            <a:srgbClr val="0E8C8C"/>
          </a:solidFill>
          <a:ln/>
        </p:spPr>
      </p:sp>
      <p:sp>
        <p:nvSpPr>
          <p:cNvPr id="14" name="Text 11"/>
          <p:cNvSpPr/>
          <p:nvPr/>
        </p:nvSpPr>
        <p:spPr>
          <a:xfrm>
            <a:off x="1655064" y="3813048"/>
            <a:ext cx="30083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been 3 days now and I also feel breathless.</a:t>
            </a:r>
            <a:endParaRPr lang="en-US" sz="1030" dirty="0"/>
          </a:p>
        </p:txBody>
      </p:sp>
      <p:sp>
        <p:nvSpPr>
          <p:cNvPr id="15" name="Shape 12"/>
          <p:cNvSpPr/>
          <p:nvPr/>
        </p:nvSpPr>
        <p:spPr>
          <a:xfrm>
            <a:off x="1051560" y="4398264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70432" y="4453128"/>
            <a:ext cx="30083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Breathlessness with ongoing fever can be serious. Please see a doctor or visit a clinic today — this isn't something to manage at home. Would you like the nearest public health centre info?</a:t>
            </a:r>
            <a:endParaRPr lang="en-US" sz="1030" dirty="0"/>
          </a:p>
        </p:txBody>
      </p:sp>
      <p:sp>
        <p:nvSpPr>
          <p:cNvPr id="17" name="Shape 14"/>
          <p:cNvSpPr/>
          <p:nvPr/>
        </p:nvSpPr>
        <p:spPr>
          <a:xfrm>
            <a:off x="5440680" y="1600200"/>
            <a:ext cx="502920" cy="502920"/>
          </a:xfrm>
          <a:prstGeom prst="ellipse">
            <a:avLst/>
          </a:prstGeom>
          <a:solidFill>
            <a:srgbClr val="DFF3EE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1439" y="1730959"/>
            <a:ext cx="241402" cy="24140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080760" y="158191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input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6080760" y="1929384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medical terminology required from the user.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440680" y="2560320"/>
            <a:ext cx="502920" cy="502920"/>
          </a:xfrm>
          <a:prstGeom prst="ellipse">
            <a:avLst/>
          </a:prstGeom>
          <a:solidFill>
            <a:srgbClr val="DFF3EE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1439" y="2691079"/>
            <a:ext cx="241402" cy="24140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080760" y="254203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Hedged, sourced guidance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6080760" y="2889504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are framed as general information, never a diagnosis.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5440680" y="3520440"/>
            <a:ext cx="502920" cy="502920"/>
          </a:xfrm>
          <a:prstGeom prst="ellipse">
            <a:avLst/>
          </a:prstGeom>
          <a:solidFill>
            <a:srgbClr val="DFF3EE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1439" y="3651199"/>
            <a:ext cx="241402" cy="24140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080760" y="350215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escalation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6080760" y="3849624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symptom (breathlessness) flips the response to an urgent referral.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5440680" y="4572000"/>
            <a:ext cx="5943600" cy="1417320"/>
          </a:xfrm>
          <a:prstGeom prst="roundRect">
            <a:avLst>
              <a:gd name="adj" fmla="val 5161"/>
            </a:avLst>
          </a:prstGeom>
          <a:solidFill>
            <a:srgbClr val="07343D"/>
          </a:solidFill>
          <a:ln/>
        </p:spPr>
      </p:sp>
      <p:sp>
        <p:nvSpPr>
          <p:cNvPr id="30" name="Text 24"/>
          <p:cNvSpPr/>
          <p:nvPr/>
        </p:nvSpPr>
        <p:spPr>
          <a:xfrm>
            <a:off x="5715000" y="4736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5715000" y="50749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HTML prototype accompanies this deck for live demonstration — ask it about fever, hygiene, or hydration to see retrieval + escalation logic respond in real time.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1M1B AI for Sustainability Internship — SDG 3 Project — Aditya Rana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3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AI Considerations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safeguards built into the design, not added afterward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0B5563"/>
          </a:solidFill>
          <a:ln/>
        </p:spPr>
      </p:sp>
      <p:sp>
        <p:nvSpPr>
          <p:cNvPr id="5" name="Shape 3"/>
          <p:cNvSpPr/>
          <p:nvPr/>
        </p:nvSpPr>
        <p:spPr>
          <a:xfrm>
            <a:off x="1485900" y="19202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6095" y="211043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8346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Fairness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49808" y="3337560"/>
            <a:ext cx="220370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C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covers common conditions across age, gender, and regional contexts; avoids assuming urban-clinic access.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83280" y="160020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0B5563"/>
          </a:solidFill>
          <a:ln/>
        </p:spPr>
      </p:sp>
      <p:sp>
        <p:nvSpPr>
          <p:cNvPr id="10" name="Shape 7"/>
          <p:cNvSpPr/>
          <p:nvPr/>
        </p:nvSpPr>
        <p:spPr>
          <a:xfrm>
            <a:off x="4320540" y="19202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0735" y="211043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8346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Transparency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584448" y="3337560"/>
            <a:ext cx="220370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C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cites that it comes from general guidance, not a personal diagnosis, and explains why an answer was given.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920" y="160020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0B5563"/>
          </a:solidFill>
          <a:ln/>
        </p:spPr>
      </p:sp>
      <p:sp>
        <p:nvSpPr>
          <p:cNvPr id="15" name="Shape 11"/>
          <p:cNvSpPr/>
          <p:nvPr/>
        </p:nvSpPr>
        <p:spPr>
          <a:xfrm>
            <a:off x="7155180" y="19202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375" y="211043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28346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419088" y="3337560"/>
            <a:ext cx="220370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C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Hard-coded refusal to diagnose, prescribe medication dosages beyond OTC labels, or replace professional care for red-flag symptoms.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052560" y="160020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0B5563"/>
          </a:solidFill>
          <a:ln/>
        </p:spPr>
      </p:sp>
      <p:sp>
        <p:nvSpPr>
          <p:cNvPr id="20" name="Shape 15"/>
          <p:cNvSpPr/>
          <p:nvPr/>
        </p:nvSpPr>
        <p:spPr>
          <a:xfrm>
            <a:off x="9989820" y="19202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0015" y="2110435"/>
            <a:ext cx="351130" cy="3511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89720" y="28346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9253728" y="3337560"/>
            <a:ext cx="220370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C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storage of personally identifiable health data; conversations are not linked to user identity or shared with third parties.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1M1B AI for Sustainability Internship — SDG 3 Project — Aditya Rana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if this is implemented, and who benefits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617720"/>
          </a:xfrm>
          <a:prstGeom prst="roundRect">
            <a:avLst>
              <a:gd name="adj" fmla="val 1584"/>
            </a:avLst>
          </a:prstGeom>
          <a:solidFill>
            <a:srgbClr val="F6FBFA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55648"/>
            <a:ext cx="548640" cy="548640"/>
          </a:xfrm>
          <a:prstGeom prst="ellipse">
            <a:avLst/>
          </a:prstGeom>
          <a:solidFill>
            <a:srgbClr val="DFF3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898294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105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42316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&amp; semi-urban residents — get a trustworthy first point of contact before deciding whether a clinic visit is needed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health workers — use it as a quick-reference companion during home visits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young adults — build health literacy habits early, reducing reliance on unverified sources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clinics &amp; hospitals — see fewer non-urgent visits and more timely arrivals for genuine emergencies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508760"/>
            <a:ext cx="542239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E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46520" y="1655064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321040" y="1636776"/>
            <a:ext cx="31546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response to symptoms — seconds instead of days waiting for a clinic slot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17920" y="3136392"/>
            <a:ext cx="542239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E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46520" y="3282696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Safer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321040" y="3264408"/>
            <a:ext cx="31546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through automatic escalation on red-flag symptoms rather than self-guesswork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17920" y="4764024"/>
            <a:ext cx="542239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E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446520" y="4910328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Wider reach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321040" y="4892040"/>
            <a:ext cx="31546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to any community with a basic smartphone or shared device, no added staffing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1M1B AI for Sustainability Internship — SDG 3 Project — Aditya Rana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3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828800"/>
            <a:ext cx="4572000" cy="4572000"/>
          </a:xfrm>
          <a:prstGeom prst="ellipse">
            <a:avLst/>
          </a:prstGeom>
          <a:solidFill>
            <a:srgbClr val="0E8C8C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82996" y="1005840"/>
            <a:ext cx="822960" cy="822960"/>
          </a:xfrm>
          <a:prstGeom prst="ellipse">
            <a:avLst/>
          </a:prstGeom>
          <a:solidFill>
            <a:srgbClr val="0E8C8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6966" y="121981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14884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as a force for sustainability and inclusion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2011680" y="301752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C7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SAHARA shows how a focused, responsibly-designed AI assistant can close a real health-access gap — without claiming to replace doctors, hospitals, or human judgment.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108960" y="4297680"/>
            <a:ext cx="5943600" cy="1371600"/>
          </a:xfrm>
          <a:prstGeom prst="roundRect">
            <a:avLst>
              <a:gd name="adj" fmla="val 5333"/>
            </a:avLst>
          </a:prstGeom>
          <a:solidFill>
            <a:srgbClr val="0B5563"/>
          </a:solidFill>
          <a:ln/>
        </p:spPr>
      </p:sp>
      <p:sp>
        <p:nvSpPr>
          <p:cNvPr id="9" name="Text 6"/>
          <p:cNvSpPr/>
          <p:nvPr/>
        </p:nvSpPr>
        <p:spPr>
          <a:xfrm>
            <a:off x="3108960" y="44348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3108960" y="495604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Rana  •  SDG 3: Good Health and Well-being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62636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1M1B AI for Sustainability Virtual Internship  •  IBM SkillsBuild &amp; AICTE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SAHARA - AI Health Literacy Assistant (SDG 3)</dc:title>
  <dc:subject>PptxGenJS Presentation</dc:subject>
  <dc:creator>Aditya Rana</dc:creator>
  <cp:lastModifiedBy>Aditya Rana</cp:lastModifiedBy>
  <cp:revision>1</cp:revision>
  <dcterms:created xsi:type="dcterms:W3CDTF">2026-06-29T08:45:36Z</dcterms:created>
  <dcterms:modified xsi:type="dcterms:W3CDTF">2026-06-29T08:45:36Z</dcterms:modified>
</cp:coreProperties>
</file>